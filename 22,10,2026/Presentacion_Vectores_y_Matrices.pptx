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A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548640"/>
            <a:ext cx="2286000" cy="2286000"/>
          </a:xfrm>
          <a:prstGeom prst="ellipse">
            <a:avLst/>
          </a:prstGeom>
          <a:solidFill>
            <a:srgbClr val="31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2743200"/>
            <a:ext cx="1463040" cy="1463040"/>
          </a:xfrm>
          <a:prstGeom prst="ellipse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046720" y="3931920"/>
            <a:ext cx="1005840" cy="1005840"/>
          </a:xfrm>
          <a:prstGeom prst="ellipse">
            <a:avLst/>
          </a:prstGeom>
          <a:solidFill>
            <a:srgbClr val="F2B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7223760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VECTORES Y MATRICES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6583680" cy="9144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200" b="0">
                <a:solidFill>
                  <a:srgbClr val="CFDEEF"/>
                </a:solidFill>
                <a:latin typeface="Aptos"/>
              </a:rPr>
              <a:t>Conceptos, usos y algoritmos en pseudocódigo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166360"/>
            <a:ext cx="6766560" cy="3785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es-CO" sz="1500" dirty="0">
                <a:solidFill>
                  <a:srgbClr val="FFFFFF"/>
                </a:solidFill>
                <a:latin typeface="Aptos"/>
              </a:rPr>
              <a:t>Oscar Samuel Cortes Agudelo </a:t>
            </a:r>
            <a:endParaRPr sz="15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6172200"/>
            <a:ext cx="365760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B2C5DA"/>
                </a:solidFill>
                <a:latin typeface="Aptos"/>
              </a:rPr>
              <a:t>Presentación de informática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92A46"/>
                </a:solidFill>
                <a:latin typeface="Aptos"/>
              </a:rPr>
              <a:t>1. ¿Qué son?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5F6C7A"/>
                </a:solidFill>
                <a:latin typeface="Aptos"/>
              </a:rPr>
              <a:t>Estructuras de datos para organizar información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05840" cy="54864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1000" b="0">
                <a:solidFill>
                  <a:srgbClr val="5F6C7A"/>
                </a:solidFill>
                <a:latin typeface="Aptos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5257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91440" cy="3566160"/>
          </a:xfrm>
          <a:prstGeom prst="rect">
            <a:avLst/>
          </a:prstGeom>
          <a:solidFill>
            <a:srgbClr val="31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739444"/>
            <a:ext cx="4910328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92A46"/>
                </a:solidFill>
                <a:latin typeface="Aptos"/>
              </a:rPr>
              <a:t>VECTOR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1" y="1645920"/>
            <a:ext cx="5257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691640"/>
            <a:ext cx="91440" cy="3566160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1828800"/>
            <a:ext cx="4910328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92A46"/>
                </a:solidFill>
                <a:latin typeface="Aptos"/>
              </a:rPr>
              <a:t>MATRIZ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23560"/>
            <a:ext cx="106984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900" b="1" dirty="0">
                <a:solidFill>
                  <a:srgbClr val="192A46"/>
                </a:solidFill>
                <a:latin typeface="Aptos"/>
              </a:rPr>
              <a:t>Idea clave: vector = </a:t>
            </a:r>
            <a:r>
              <a:rPr lang="es-CO" sz="1900" b="1" dirty="0">
                <a:solidFill>
                  <a:srgbClr val="192A46"/>
                </a:solidFill>
                <a:latin typeface="Aptos"/>
              </a:rPr>
              <a:t>lista</a:t>
            </a:r>
            <a:r>
              <a:rPr sz="1900" b="1" dirty="0">
                <a:solidFill>
                  <a:srgbClr val="192A46"/>
                </a:solidFill>
                <a:latin typeface="Aptos"/>
              </a:rPr>
              <a:t>; matriz = </a:t>
            </a:r>
            <a:r>
              <a:rPr sz="1900" b="1" dirty="0" err="1">
                <a:solidFill>
                  <a:srgbClr val="192A46"/>
                </a:solidFill>
                <a:latin typeface="Aptos"/>
              </a:rPr>
              <a:t>tabla</a:t>
            </a:r>
            <a:r>
              <a:rPr sz="1900" b="1" dirty="0">
                <a:solidFill>
                  <a:srgbClr val="192A46"/>
                </a:solidFill>
                <a:latin typeface="Aptos"/>
              </a:rPr>
              <a:t>.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5D4CBE4-11C0-5273-8C49-EFADC10F927A}"/>
              </a:ext>
            </a:extLst>
          </p:cNvPr>
          <p:cNvSpPr txBox="1"/>
          <p:nvPr/>
        </p:nvSpPr>
        <p:spPr>
          <a:xfrm>
            <a:off x="777240" y="2086916"/>
            <a:ext cx="502005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sz="1600" dirty="0"/>
              <a:t>Un vector es una estructura de datos que permite almacenar varios elementos del mismo tipo en una sola variable, identificando cada elemento mediante una posición o índice.</a:t>
            </a:r>
          </a:p>
          <a:p>
            <a:pPr>
              <a:buNone/>
            </a:pPr>
            <a:r>
              <a:rPr lang="es-CO" sz="1600" dirty="0"/>
              <a:t>¿En qué consiste?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O" sz="1600" dirty="0"/>
              <a:t>Almacena varios datos relacionados.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O" sz="1600" dirty="0"/>
              <a:t>Cada elemento tiene una posición.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O" sz="1600" dirty="0"/>
              <a:t>Generalmente, las posiciones comienzan desde el índice 0 o 1, según el lenguaje de programación.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O" sz="1600" dirty="0"/>
              <a:t>Permite consultar y modificar los datos fácilmente</a:t>
            </a:r>
            <a:r>
              <a:rPr lang="es-CO" dirty="0"/>
              <a:t>.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92C22FA7-42BB-EB3D-A461-B5D5A0A31D91}"/>
              </a:ext>
            </a:extLst>
          </p:cNvPr>
          <p:cNvSpPr txBox="1"/>
          <p:nvPr/>
        </p:nvSpPr>
        <p:spPr>
          <a:xfrm>
            <a:off x="6443470" y="2240804"/>
            <a:ext cx="513283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sz="1600" dirty="0"/>
              <a:t>Definición: Una matriz es una estructura de datos que permite almacenar elementos del mismo tipo organizados en filas y columnas, como si fuera una tabla.</a:t>
            </a:r>
          </a:p>
          <a:p>
            <a:pPr>
              <a:buNone/>
            </a:pPr>
            <a:r>
              <a:rPr lang="es-CO" sz="1600" dirty="0"/>
              <a:t>¿En qué consiste?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O" sz="1600" dirty="0"/>
              <a:t>Organiza la información en dos dimensiones: filas y columnas.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O" sz="1600" dirty="0"/>
              <a:t>Cada elemento se identifica mediante dos índices.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O" sz="1600" dirty="0"/>
              <a:t>Permite almacenar datos relacionados de manera ordenada.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O" sz="1600" dirty="0"/>
              <a:t>Facilita el procesamiento de tablas de información.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92A46"/>
                </a:solidFill>
                <a:latin typeface="Aptos"/>
              </a:rPr>
              <a:t>2. ¿Qué significa la posición?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5F6C7A"/>
                </a:solidFill>
                <a:latin typeface="Aptos"/>
              </a:rPr>
              <a:t>La posición indica dónde está guardado un dato dentro de la estructura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05840" cy="54864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1000" b="0">
                <a:solidFill>
                  <a:srgbClr val="5F6C7A"/>
                </a:solidFill>
                <a:latin typeface="Aptos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64208"/>
            <a:ext cx="512064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92A46"/>
                </a:solidFill>
                <a:latin typeface="Aptos"/>
              </a:rPr>
              <a:t>VECTOR: ventas[1], ventas[2], ventas[3]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40280"/>
            <a:ext cx="93268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350008"/>
            <a:ext cx="87782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000" b="0">
                <a:solidFill>
                  <a:srgbClr val="5F6C7A"/>
                </a:solidFill>
                <a:latin typeface="Aptos"/>
              </a:rPr>
              <a:t>Pos.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697480"/>
            <a:ext cx="877824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200" b="1">
                <a:solidFill>
                  <a:srgbClr val="192A46"/>
                </a:solidFill>
                <a:latin typeface="Aptos"/>
              </a:rPr>
              <a:t>100.000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01368" y="2240280"/>
            <a:ext cx="93268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28800" y="2350008"/>
            <a:ext cx="87782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000" b="0">
                <a:solidFill>
                  <a:srgbClr val="5F6C7A"/>
                </a:solidFill>
                <a:latin typeface="Aptos"/>
              </a:rPr>
              <a:t>Pos.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697480"/>
            <a:ext cx="877824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200" b="1">
                <a:solidFill>
                  <a:srgbClr val="192A46"/>
                </a:solidFill>
                <a:latin typeface="Aptos"/>
              </a:rPr>
              <a:t>150.000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25496" y="2240280"/>
            <a:ext cx="932688" cy="1051560"/>
          </a:xfrm>
          <a:prstGeom prst="roundRect">
            <a:avLst/>
          </a:prstGeom>
          <a:solidFill>
            <a:srgbClr val="DEEFF8"/>
          </a:solidFill>
          <a:ln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52928" y="2350008"/>
            <a:ext cx="87782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000" b="0">
                <a:solidFill>
                  <a:srgbClr val="5F6C7A"/>
                </a:solidFill>
                <a:latin typeface="Aptos"/>
              </a:rPr>
              <a:t>Pos.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2697480"/>
            <a:ext cx="877824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200" b="1">
                <a:solidFill>
                  <a:srgbClr val="192A46"/>
                </a:solidFill>
                <a:latin typeface="Aptos"/>
              </a:rPr>
              <a:t>120.000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9624" y="2240280"/>
            <a:ext cx="93268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77056" y="2350008"/>
            <a:ext cx="87782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000" b="0">
                <a:solidFill>
                  <a:srgbClr val="5F6C7A"/>
                </a:solidFill>
                <a:latin typeface="Aptos"/>
              </a:rPr>
              <a:t>Pos.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77056" y="2697480"/>
            <a:ext cx="877824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200" b="1">
                <a:solidFill>
                  <a:srgbClr val="192A46"/>
                </a:solidFill>
                <a:latin typeface="Aptos"/>
              </a:rPr>
              <a:t>180.000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73752" y="2240280"/>
            <a:ext cx="93268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01184" y="2350008"/>
            <a:ext cx="87782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000" b="0">
                <a:solidFill>
                  <a:srgbClr val="5F6C7A"/>
                </a:solidFill>
                <a:latin typeface="Aptos"/>
              </a:rPr>
              <a:t>Pos.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01184" y="2697480"/>
            <a:ext cx="877824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200" b="1">
                <a:solidFill>
                  <a:srgbClr val="192A46"/>
                </a:solidFill>
                <a:latin typeface="Aptos"/>
              </a:rPr>
              <a:t>200.000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520440"/>
            <a:ext cx="502920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26313E"/>
                </a:solidFill>
                <a:latin typeface="Aptos"/>
              </a:rPr>
              <a:t>Ejemplo: ventas[3] devuelve 120.000.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1664208"/>
            <a:ext cx="484632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92A46"/>
                </a:solidFill>
                <a:latin typeface="Aptos"/>
              </a:rPr>
              <a:t>MATRIZ: matriz[fila, columna]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0" y="2240280"/>
            <a:ext cx="11887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0" y="2350008"/>
            <a:ext cx="118872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92A46"/>
                </a:solidFill>
                <a:latin typeface="Aptos"/>
              </a:rPr>
              <a:t>10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2240280"/>
            <a:ext cx="11887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92440" y="2350008"/>
            <a:ext cx="118872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92A46"/>
                </a:solidFill>
                <a:latin typeface="Aptos"/>
              </a:rPr>
              <a:t>20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66560" y="3154680"/>
            <a:ext cx="1188720" cy="749808"/>
          </a:xfrm>
          <a:prstGeom prst="roundRect">
            <a:avLst/>
          </a:prstGeom>
          <a:solidFill>
            <a:srgbClr val="DEEFF8"/>
          </a:solidFill>
          <a:ln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66560" y="3264408"/>
            <a:ext cx="118872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92A46"/>
                </a:solidFill>
                <a:latin typeface="Aptos"/>
              </a:rPr>
              <a:t>30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3154680"/>
            <a:ext cx="11887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92440" y="3264408"/>
            <a:ext cx="118872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92A46"/>
                </a:solidFill>
                <a:latin typeface="Aptos"/>
              </a:rPr>
              <a:t>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2331720"/>
            <a:ext cx="164592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5F6C7A"/>
                </a:solidFill>
                <a:latin typeface="Aptos"/>
              </a:rPr>
              <a:t>Fila 2,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5F6C7A"/>
                </a:solidFill>
                <a:latin typeface="Aptos"/>
              </a:rPr>
              <a:t>columna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4251960"/>
            <a:ext cx="438912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26313E"/>
                </a:solidFill>
                <a:latin typeface="Aptos"/>
              </a:rPr>
              <a:t>matriz[2,1] = 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166360"/>
            <a:ext cx="1042416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5F6C7A"/>
                </a:solidFill>
                <a:latin typeface="Aptos"/>
              </a:rPr>
              <a:t>Nota: en estos ejemplos se cuenta desde 1; algunos lenguajes comienzan desde 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92A46"/>
                </a:solidFill>
                <a:latin typeface="Aptos"/>
              </a:rPr>
              <a:t>3. ¿Cuándo se usa cada uno?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5F6C7A"/>
                </a:solidFill>
                <a:latin typeface="Aptos"/>
              </a:rPr>
              <a:t>Elige la estructura según cómo necesitas organizar los 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05840" cy="54864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1000" b="0">
                <a:solidFill>
                  <a:srgbClr val="5F6C7A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52578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91440" cy="4069080"/>
          </a:xfrm>
          <a:prstGeom prst="rect">
            <a:avLst/>
          </a:prstGeom>
          <a:solidFill>
            <a:srgbClr val="31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828800"/>
            <a:ext cx="4910328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92A46"/>
                </a:solidFill>
                <a:latin typeface="Aptos"/>
              </a:rPr>
              <a:t>USA UN VECTOR CUANDO…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58568"/>
            <a:ext cx="4910328" cy="34107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26313E"/>
                </a:solidFill>
                <a:latin typeface="Aptos"/>
              </a:rPr>
              <a:t>• Guardas precios de productos.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26313E"/>
                </a:solidFill>
                <a:latin typeface="Aptos"/>
              </a:rPr>
              <a:t>• Registras ventas por día.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26313E"/>
                </a:solidFill>
                <a:latin typeface="Aptos"/>
              </a:rPr>
              <a:t>• Almacenas edades de personas.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26313E"/>
                </a:solidFill>
                <a:latin typeface="Aptos"/>
              </a:rPr>
              <a:t>• Guardas temperaturas diarias.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26313E"/>
                </a:solidFill>
                <a:latin typeface="Aptos"/>
              </a:rPr>
              <a:t>• Registras resultados de un examen.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52578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691640"/>
            <a:ext cx="91440" cy="4069080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1828800"/>
            <a:ext cx="4910328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92A46"/>
                </a:solidFill>
                <a:latin typeface="Aptos"/>
              </a:rPr>
              <a:t>USA UNA MATRIZ CUANDO…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258568"/>
            <a:ext cx="4910328" cy="34107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26313E"/>
                </a:solidFill>
                <a:latin typeface="Aptos"/>
              </a:rPr>
              <a:t>• Guardas notas por estudiante y materia.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26313E"/>
                </a:solidFill>
                <a:latin typeface="Aptos"/>
              </a:rPr>
              <a:t>• Registras ventas por producto y día.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26313E"/>
                </a:solidFill>
                <a:latin typeface="Aptos"/>
              </a:rPr>
              <a:t>• Organizas horarios por día y hora.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26313E"/>
                </a:solidFill>
                <a:latin typeface="Aptos"/>
              </a:rPr>
              <a:t>• Representas asientos de un cine.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26313E"/>
                </a:solidFill>
                <a:latin typeface="Aptos"/>
              </a:rPr>
              <a:t>• Organizas un tablero de ajedrez.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92A46"/>
                </a:solidFill>
                <a:latin typeface="Aptos"/>
              </a:rPr>
              <a:t>4. Algoritmo con vector: ventas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5F6C7A"/>
                </a:solidFill>
                <a:latin typeface="Aptos"/>
              </a:rPr>
              <a:t>Registrar las ventas de cinco días y calcular el total semanal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05840" cy="54864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1000" b="0">
                <a:solidFill>
                  <a:srgbClr val="5F6C7A"/>
                </a:solidFill>
                <a:latin typeface="Aptos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6629400" cy="4754880"/>
          </a:xfrm>
          <a:prstGeom prst="roundRect">
            <a:avLst/>
          </a:prstGeom>
          <a:solidFill>
            <a:srgbClr val="1D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709928"/>
            <a:ext cx="6309360" cy="40370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00" dirty="0" err="1">
                <a:solidFill>
                  <a:srgbClr val="E0EBF6"/>
                </a:solidFill>
                <a:latin typeface="Consolas"/>
              </a:rPr>
              <a:t>Algoritmo</a:t>
            </a:r>
            <a:r>
              <a:rPr sz="1300" dirty="0">
                <a:solidFill>
                  <a:srgbClr val="E0EBF6"/>
                </a:solidFill>
                <a:latin typeface="Consolas"/>
              </a:rPr>
              <a:t> </a:t>
            </a:r>
            <a:r>
              <a:rPr sz="1300" dirty="0" err="1">
                <a:solidFill>
                  <a:srgbClr val="E0EBF6"/>
                </a:solidFill>
                <a:latin typeface="Consolas"/>
              </a:rPr>
              <a:t>VentasTienda</a:t>
            </a:r>
            <a:endParaRPr lang="es-CO" sz="1300" dirty="0">
              <a:solidFill>
                <a:srgbClr val="E0EBF6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lang="es-CO" sz="1300" dirty="0" err="1">
                <a:solidFill>
                  <a:srgbClr val="E0EBF6"/>
                </a:solidFill>
                <a:latin typeface="Consolas"/>
              </a:rPr>
              <a:t>InicioAlgoritmo</a:t>
            </a:r>
            <a:endParaRPr sz="1300" dirty="0">
              <a:solidFill>
                <a:srgbClr val="E0EBF6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300" dirty="0">
                <a:solidFill>
                  <a:srgbClr val="E0EBF6"/>
                </a:solidFill>
                <a:latin typeface="Consolas"/>
              </a:rPr>
              <a:t>    </a:t>
            </a:r>
            <a:r>
              <a:rPr sz="1300" dirty="0" err="1">
                <a:solidFill>
                  <a:srgbClr val="E0EBF6"/>
                </a:solidFill>
                <a:latin typeface="Consolas"/>
              </a:rPr>
              <a:t>Definir</a:t>
            </a:r>
            <a:r>
              <a:rPr sz="1300" dirty="0">
                <a:solidFill>
                  <a:srgbClr val="E0EBF6"/>
                </a:solidFill>
                <a:latin typeface="Consolas"/>
              </a:rPr>
              <a:t> </a:t>
            </a:r>
            <a:r>
              <a:rPr sz="1300" dirty="0" err="1">
                <a:solidFill>
                  <a:srgbClr val="E0EBF6"/>
                </a:solidFill>
                <a:latin typeface="Consolas"/>
              </a:rPr>
              <a:t>ventas</a:t>
            </a:r>
            <a:r>
              <a:rPr sz="1300" dirty="0">
                <a:solidFill>
                  <a:srgbClr val="E0EBF6"/>
                </a:solidFill>
                <a:latin typeface="Consolas"/>
              </a:rPr>
              <a:t>[5] Como Real</a:t>
            </a:r>
          </a:p>
          <a:p>
            <a:pPr>
              <a:spcAft>
                <a:spcPts val="200"/>
              </a:spcAft>
            </a:pPr>
            <a:r>
              <a:rPr sz="1300" dirty="0">
                <a:solidFill>
                  <a:srgbClr val="E0EBF6"/>
                </a:solidFill>
                <a:latin typeface="Consolas"/>
              </a:rPr>
              <a:t>    </a:t>
            </a:r>
            <a:r>
              <a:rPr sz="1300" dirty="0" err="1">
                <a:solidFill>
                  <a:srgbClr val="E0EBF6"/>
                </a:solidFill>
                <a:latin typeface="Consolas"/>
              </a:rPr>
              <a:t>Definir</a:t>
            </a:r>
            <a:r>
              <a:rPr sz="1300" dirty="0">
                <a:solidFill>
                  <a:srgbClr val="E0EBF6"/>
                </a:solidFill>
                <a:latin typeface="Consolas"/>
              </a:rPr>
              <a:t> </a:t>
            </a:r>
            <a:r>
              <a:rPr sz="1300" dirty="0" err="1">
                <a:solidFill>
                  <a:srgbClr val="E0EBF6"/>
                </a:solidFill>
                <a:latin typeface="Consolas"/>
              </a:rPr>
              <a:t>i</a:t>
            </a:r>
            <a:r>
              <a:rPr sz="1300" dirty="0">
                <a:solidFill>
                  <a:srgbClr val="E0EBF6"/>
                </a:solidFill>
                <a:latin typeface="Consolas"/>
              </a:rPr>
              <a:t> Como </a:t>
            </a:r>
            <a:r>
              <a:rPr sz="1300" dirty="0" err="1">
                <a:solidFill>
                  <a:srgbClr val="E0EBF6"/>
                </a:solidFill>
                <a:latin typeface="Consolas"/>
              </a:rPr>
              <a:t>Entero</a:t>
            </a:r>
            <a:endParaRPr sz="1300" dirty="0">
              <a:solidFill>
                <a:srgbClr val="E0EBF6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300" dirty="0">
                <a:solidFill>
                  <a:srgbClr val="E0EBF6"/>
                </a:solidFill>
                <a:latin typeface="Consolas"/>
              </a:rPr>
              <a:t>    </a:t>
            </a:r>
            <a:r>
              <a:rPr sz="1300" dirty="0" err="1">
                <a:solidFill>
                  <a:srgbClr val="E0EBF6"/>
                </a:solidFill>
                <a:latin typeface="Consolas"/>
              </a:rPr>
              <a:t>Definir</a:t>
            </a:r>
            <a:r>
              <a:rPr sz="1300" dirty="0">
                <a:solidFill>
                  <a:srgbClr val="E0EBF6"/>
                </a:solidFill>
                <a:latin typeface="Consolas"/>
              </a:rPr>
              <a:t> total Como Real</a:t>
            </a:r>
          </a:p>
          <a:p>
            <a:pPr>
              <a:spcAft>
                <a:spcPts val="200"/>
              </a:spcAft>
            </a:pPr>
            <a:endParaRPr sz="1300" dirty="0">
              <a:solidFill>
                <a:srgbClr val="E0EBF6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300" dirty="0">
                <a:solidFill>
                  <a:srgbClr val="E0EBF6"/>
                </a:solidFill>
                <a:latin typeface="Consolas"/>
              </a:rPr>
              <a:t>    total &lt;- 0</a:t>
            </a:r>
          </a:p>
          <a:p>
            <a:pPr>
              <a:spcAft>
                <a:spcPts val="200"/>
              </a:spcAft>
            </a:pPr>
            <a:r>
              <a:rPr sz="1300" dirty="0">
                <a:solidFill>
                  <a:srgbClr val="E0EBF6"/>
                </a:solidFill>
                <a:latin typeface="Consolas"/>
              </a:rPr>
              <a:t>    Para </a:t>
            </a:r>
            <a:r>
              <a:rPr sz="1300" dirty="0" err="1">
                <a:solidFill>
                  <a:srgbClr val="E0EBF6"/>
                </a:solidFill>
                <a:latin typeface="Consolas"/>
              </a:rPr>
              <a:t>i</a:t>
            </a:r>
            <a:r>
              <a:rPr sz="1300" dirty="0">
                <a:solidFill>
                  <a:srgbClr val="E0EBF6"/>
                </a:solidFill>
                <a:latin typeface="Consolas"/>
              </a:rPr>
              <a:t> &lt;- 1 Hasta 5 Hacer</a:t>
            </a:r>
          </a:p>
          <a:p>
            <a:pPr>
              <a:spcAft>
                <a:spcPts val="200"/>
              </a:spcAft>
            </a:pPr>
            <a:r>
              <a:rPr sz="1300" dirty="0">
                <a:solidFill>
                  <a:srgbClr val="E0EBF6"/>
                </a:solidFill>
                <a:latin typeface="Consolas"/>
              </a:rPr>
              <a:t>        </a:t>
            </a:r>
            <a:r>
              <a:rPr sz="1300" dirty="0" err="1">
                <a:solidFill>
                  <a:srgbClr val="E0EBF6"/>
                </a:solidFill>
                <a:latin typeface="Consolas"/>
              </a:rPr>
              <a:t>Escribir</a:t>
            </a:r>
            <a:r>
              <a:rPr sz="1300" dirty="0">
                <a:solidFill>
                  <a:srgbClr val="E0EBF6"/>
                </a:solidFill>
                <a:latin typeface="Consolas"/>
              </a:rPr>
              <a:t> "</a:t>
            </a:r>
            <a:r>
              <a:rPr sz="1300" dirty="0" err="1">
                <a:solidFill>
                  <a:srgbClr val="E0EBF6"/>
                </a:solidFill>
                <a:latin typeface="Consolas"/>
              </a:rPr>
              <a:t>Ingrese</a:t>
            </a:r>
            <a:r>
              <a:rPr sz="1300" dirty="0">
                <a:solidFill>
                  <a:srgbClr val="E0EBF6"/>
                </a:solidFill>
                <a:latin typeface="Consolas"/>
              </a:rPr>
              <a:t> las </a:t>
            </a:r>
            <a:r>
              <a:rPr sz="1300" dirty="0" err="1">
                <a:solidFill>
                  <a:srgbClr val="E0EBF6"/>
                </a:solidFill>
                <a:latin typeface="Consolas"/>
              </a:rPr>
              <a:t>ventas</a:t>
            </a:r>
            <a:r>
              <a:rPr sz="1300" dirty="0">
                <a:solidFill>
                  <a:srgbClr val="E0EBF6"/>
                </a:solidFill>
                <a:latin typeface="Consolas"/>
              </a:rPr>
              <a:t> del </a:t>
            </a:r>
            <a:r>
              <a:rPr sz="1300" dirty="0" err="1">
                <a:solidFill>
                  <a:srgbClr val="E0EBF6"/>
                </a:solidFill>
                <a:latin typeface="Consolas"/>
              </a:rPr>
              <a:t>dia</a:t>
            </a:r>
            <a:r>
              <a:rPr sz="1300" dirty="0">
                <a:solidFill>
                  <a:srgbClr val="E0EBF6"/>
                </a:solidFill>
                <a:latin typeface="Consolas"/>
              </a:rPr>
              <a:t> ", </a:t>
            </a:r>
            <a:r>
              <a:rPr sz="1300" dirty="0" err="1">
                <a:solidFill>
                  <a:srgbClr val="E0EBF6"/>
                </a:solidFill>
                <a:latin typeface="Consolas"/>
              </a:rPr>
              <a:t>i</a:t>
            </a:r>
            <a:endParaRPr sz="1300" dirty="0">
              <a:solidFill>
                <a:srgbClr val="E0EBF6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300" dirty="0">
                <a:solidFill>
                  <a:srgbClr val="E0EBF6"/>
                </a:solidFill>
                <a:latin typeface="Consolas"/>
              </a:rPr>
              <a:t>        Leer </a:t>
            </a:r>
            <a:r>
              <a:rPr sz="1300" dirty="0" err="1">
                <a:solidFill>
                  <a:srgbClr val="E0EBF6"/>
                </a:solidFill>
                <a:latin typeface="Consolas"/>
              </a:rPr>
              <a:t>ventas</a:t>
            </a:r>
            <a:r>
              <a:rPr sz="1300" dirty="0">
                <a:solidFill>
                  <a:srgbClr val="E0EBF6"/>
                </a:solidFill>
                <a:latin typeface="Consolas"/>
              </a:rPr>
              <a:t>[</a:t>
            </a:r>
            <a:r>
              <a:rPr sz="1300" dirty="0" err="1">
                <a:solidFill>
                  <a:srgbClr val="E0EBF6"/>
                </a:solidFill>
                <a:latin typeface="Consolas"/>
              </a:rPr>
              <a:t>i</a:t>
            </a:r>
            <a:r>
              <a:rPr sz="1300" dirty="0">
                <a:solidFill>
                  <a:srgbClr val="E0EBF6"/>
                </a:solidFill>
                <a:latin typeface="Consolas"/>
              </a:rPr>
              <a:t>]</a:t>
            </a:r>
          </a:p>
          <a:p>
            <a:pPr>
              <a:spcAft>
                <a:spcPts val="200"/>
              </a:spcAft>
            </a:pPr>
            <a:r>
              <a:rPr sz="1300" dirty="0">
                <a:solidFill>
                  <a:srgbClr val="E0EBF6"/>
                </a:solidFill>
                <a:latin typeface="Consolas"/>
              </a:rPr>
              <a:t>        total &lt;- total + </a:t>
            </a:r>
            <a:r>
              <a:rPr sz="1300" dirty="0" err="1">
                <a:solidFill>
                  <a:srgbClr val="E0EBF6"/>
                </a:solidFill>
                <a:latin typeface="Consolas"/>
              </a:rPr>
              <a:t>ventas</a:t>
            </a:r>
            <a:r>
              <a:rPr sz="1300" dirty="0">
                <a:solidFill>
                  <a:srgbClr val="E0EBF6"/>
                </a:solidFill>
                <a:latin typeface="Consolas"/>
              </a:rPr>
              <a:t>[</a:t>
            </a:r>
            <a:r>
              <a:rPr sz="1300" dirty="0" err="1">
                <a:solidFill>
                  <a:srgbClr val="E0EBF6"/>
                </a:solidFill>
                <a:latin typeface="Consolas"/>
              </a:rPr>
              <a:t>i</a:t>
            </a:r>
            <a:r>
              <a:rPr sz="1300" dirty="0">
                <a:solidFill>
                  <a:srgbClr val="E0EBF6"/>
                </a:solidFill>
                <a:latin typeface="Consolas"/>
              </a:rPr>
              <a:t>]</a:t>
            </a:r>
          </a:p>
          <a:p>
            <a:pPr>
              <a:spcAft>
                <a:spcPts val="200"/>
              </a:spcAft>
            </a:pPr>
            <a:r>
              <a:rPr sz="1300" dirty="0">
                <a:solidFill>
                  <a:srgbClr val="E0EBF6"/>
                </a:solidFill>
                <a:latin typeface="Consolas"/>
              </a:rPr>
              <a:t>    </a:t>
            </a:r>
            <a:r>
              <a:rPr sz="1300" dirty="0" err="1">
                <a:solidFill>
                  <a:srgbClr val="E0EBF6"/>
                </a:solidFill>
                <a:latin typeface="Consolas"/>
              </a:rPr>
              <a:t>FinPara</a:t>
            </a:r>
            <a:endParaRPr sz="1300" dirty="0">
              <a:solidFill>
                <a:srgbClr val="E0EBF6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endParaRPr sz="1300" dirty="0">
              <a:solidFill>
                <a:srgbClr val="E0EBF6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300" dirty="0">
                <a:solidFill>
                  <a:srgbClr val="E0EBF6"/>
                </a:solidFill>
                <a:latin typeface="Consolas"/>
              </a:rPr>
              <a:t>    Para </a:t>
            </a:r>
            <a:r>
              <a:rPr sz="1300" dirty="0" err="1">
                <a:solidFill>
                  <a:srgbClr val="E0EBF6"/>
                </a:solidFill>
                <a:latin typeface="Consolas"/>
              </a:rPr>
              <a:t>i</a:t>
            </a:r>
            <a:r>
              <a:rPr sz="1300" dirty="0">
                <a:solidFill>
                  <a:srgbClr val="E0EBF6"/>
                </a:solidFill>
                <a:latin typeface="Consolas"/>
              </a:rPr>
              <a:t> &lt;- 1 Hasta 5 Hacer</a:t>
            </a:r>
          </a:p>
          <a:p>
            <a:pPr>
              <a:spcAft>
                <a:spcPts val="200"/>
              </a:spcAft>
            </a:pPr>
            <a:r>
              <a:rPr sz="1300" dirty="0">
                <a:solidFill>
                  <a:srgbClr val="E0EBF6"/>
                </a:solidFill>
                <a:latin typeface="Consolas"/>
              </a:rPr>
              <a:t>        </a:t>
            </a:r>
            <a:r>
              <a:rPr sz="1300" dirty="0" err="1">
                <a:solidFill>
                  <a:srgbClr val="E0EBF6"/>
                </a:solidFill>
                <a:latin typeface="Consolas"/>
              </a:rPr>
              <a:t>Escribir</a:t>
            </a:r>
            <a:r>
              <a:rPr sz="1300" dirty="0">
                <a:solidFill>
                  <a:srgbClr val="E0EBF6"/>
                </a:solidFill>
                <a:latin typeface="Consolas"/>
              </a:rPr>
              <a:t> "Dia ", </a:t>
            </a:r>
            <a:r>
              <a:rPr sz="1300" dirty="0" err="1">
                <a:solidFill>
                  <a:srgbClr val="E0EBF6"/>
                </a:solidFill>
                <a:latin typeface="Consolas"/>
              </a:rPr>
              <a:t>i</a:t>
            </a:r>
            <a:r>
              <a:rPr sz="1300" dirty="0">
                <a:solidFill>
                  <a:srgbClr val="E0EBF6"/>
                </a:solidFill>
                <a:latin typeface="Consolas"/>
              </a:rPr>
              <a:t>, ": $", </a:t>
            </a:r>
            <a:r>
              <a:rPr sz="1300" dirty="0" err="1">
                <a:solidFill>
                  <a:srgbClr val="E0EBF6"/>
                </a:solidFill>
                <a:latin typeface="Consolas"/>
              </a:rPr>
              <a:t>ventas</a:t>
            </a:r>
            <a:r>
              <a:rPr sz="1300" dirty="0">
                <a:solidFill>
                  <a:srgbClr val="E0EBF6"/>
                </a:solidFill>
                <a:latin typeface="Consolas"/>
              </a:rPr>
              <a:t>[</a:t>
            </a:r>
            <a:r>
              <a:rPr sz="1300" dirty="0" err="1">
                <a:solidFill>
                  <a:srgbClr val="E0EBF6"/>
                </a:solidFill>
                <a:latin typeface="Consolas"/>
              </a:rPr>
              <a:t>i</a:t>
            </a:r>
            <a:r>
              <a:rPr sz="1300" dirty="0">
                <a:solidFill>
                  <a:srgbClr val="E0EBF6"/>
                </a:solidFill>
                <a:latin typeface="Consolas"/>
              </a:rPr>
              <a:t>]</a:t>
            </a:r>
          </a:p>
          <a:p>
            <a:pPr>
              <a:spcAft>
                <a:spcPts val="200"/>
              </a:spcAft>
            </a:pPr>
            <a:r>
              <a:rPr sz="1300" dirty="0">
                <a:solidFill>
                  <a:srgbClr val="E0EBF6"/>
                </a:solidFill>
                <a:latin typeface="Consolas"/>
              </a:rPr>
              <a:t>    </a:t>
            </a:r>
            <a:r>
              <a:rPr sz="1300" dirty="0" err="1">
                <a:solidFill>
                  <a:srgbClr val="E0EBF6"/>
                </a:solidFill>
                <a:latin typeface="Consolas"/>
              </a:rPr>
              <a:t>FinPara</a:t>
            </a:r>
            <a:endParaRPr sz="1300" dirty="0">
              <a:solidFill>
                <a:srgbClr val="E0EBF6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300" dirty="0">
                <a:solidFill>
                  <a:srgbClr val="E0EBF6"/>
                </a:solidFill>
                <a:latin typeface="Consolas"/>
              </a:rPr>
              <a:t>    </a:t>
            </a:r>
            <a:r>
              <a:rPr sz="1300" dirty="0" err="1">
                <a:solidFill>
                  <a:srgbClr val="E0EBF6"/>
                </a:solidFill>
                <a:latin typeface="Consolas"/>
              </a:rPr>
              <a:t>Escribir</a:t>
            </a:r>
            <a:r>
              <a:rPr sz="1300" dirty="0">
                <a:solidFill>
                  <a:srgbClr val="E0EBF6"/>
                </a:solidFill>
                <a:latin typeface="Consolas"/>
              </a:rPr>
              <a:t> "Total </a:t>
            </a:r>
            <a:r>
              <a:rPr sz="1300" dirty="0" err="1">
                <a:solidFill>
                  <a:srgbClr val="E0EBF6"/>
                </a:solidFill>
                <a:latin typeface="Consolas"/>
              </a:rPr>
              <a:t>vendido</a:t>
            </a:r>
            <a:r>
              <a:rPr sz="1300" dirty="0">
                <a:solidFill>
                  <a:srgbClr val="E0EBF6"/>
                </a:solidFill>
                <a:latin typeface="Consolas"/>
              </a:rPr>
              <a:t>: $", total</a:t>
            </a:r>
          </a:p>
          <a:p>
            <a:pPr>
              <a:spcAft>
                <a:spcPts val="200"/>
              </a:spcAft>
            </a:pPr>
            <a:r>
              <a:rPr sz="1300" dirty="0" err="1">
                <a:solidFill>
                  <a:srgbClr val="E0EBF6"/>
                </a:solidFill>
                <a:latin typeface="Consolas"/>
              </a:rPr>
              <a:t>FinAlgoritmo</a:t>
            </a:r>
            <a:endParaRPr sz="1300" dirty="0">
              <a:solidFill>
                <a:srgbClr val="E0EBF6"/>
              </a:solidFill>
              <a:latin typeface="Consola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635240" y="1737360"/>
            <a:ext cx="38404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35240" y="1737360"/>
            <a:ext cx="91440" cy="1828800"/>
          </a:xfrm>
          <a:prstGeom prst="rect">
            <a:avLst/>
          </a:prstGeom>
          <a:solidFill>
            <a:srgbClr val="31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36408" y="1874519"/>
            <a:ext cx="3493008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92A46"/>
                </a:solidFill>
                <a:latin typeface="Aptos"/>
              </a:rPr>
              <a:t>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6408" y="2304288"/>
            <a:ext cx="3493008" cy="11704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26313E"/>
                </a:solidFill>
                <a:latin typeface="Aptos"/>
              </a:rPr>
              <a:t>Ventas de cada uno de los cinco días.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794760"/>
            <a:ext cx="38404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35240" y="3794760"/>
            <a:ext cx="91440" cy="1828800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36408" y="3931920"/>
            <a:ext cx="3493008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92A46"/>
                </a:solidFill>
                <a:latin typeface="Aptos"/>
              </a:rPr>
              <a:t>SALIDA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6408" y="4361688"/>
            <a:ext cx="3493008" cy="11704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26313E"/>
                </a:solidFill>
                <a:latin typeface="Aptos"/>
              </a:rPr>
              <a:t>Ventas diarias y total acumulado.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92A46"/>
                </a:solidFill>
                <a:latin typeface="Aptos"/>
              </a:rPr>
              <a:t>5. Ejemplo de resultado: vector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5F6C7A"/>
                </a:solidFill>
                <a:latin typeface="Aptos"/>
              </a:rPr>
              <a:t>Si la tienda registra estas ventas, el algoritmo calcula la suma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05840" cy="54864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1000" b="0">
                <a:solidFill>
                  <a:srgbClr val="5F6C7A"/>
                </a:solidFill>
                <a:latin typeface="Aptos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97280" y="1691640"/>
          <a:ext cx="56692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Día</a:t>
                      </a:r>
                    </a:p>
                  </a:txBody>
                  <a:tcPr>
                    <a:solidFill>
                      <a:srgbClr val="192A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Venta</a:t>
                      </a:r>
                    </a:p>
                  </a:txBody>
                  <a:tcPr>
                    <a:solidFill>
                      <a:srgbClr val="192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3E"/>
                          </a:solidFill>
                        </a:rPr>
                        <a:t>Día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3E"/>
                          </a:solidFill>
                        </a:rPr>
                        <a:t>$100.000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3E"/>
                          </a:solidFill>
                        </a:rPr>
                        <a:t>Día 2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3E"/>
                          </a:solidFill>
                        </a:rPr>
                        <a:t>$150.000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3E"/>
                          </a:solidFill>
                        </a:rPr>
                        <a:t>Día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3E"/>
                          </a:solidFill>
                        </a:rPr>
                        <a:t>$120.000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3E"/>
                          </a:solidFill>
                        </a:rPr>
                        <a:t>Día 4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3E"/>
                          </a:solidFill>
                        </a:rPr>
                        <a:t>$180.000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92A46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D8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92A46"/>
                          </a:solidFill>
                        </a:rPr>
                        <a:t>$750.000</a:t>
                      </a:r>
                    </a:p>
                  </a:txBody>
                  <a:tcPr>
                    <a:solidFill>
                      <a:srgbClr val="D8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0" y="2011680"/>
            <a:ext cx="39319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0" y="2011680"/>
            <a:ext cx="91440" cy="2194560"/>
          </a:xfrm>
          <a:prstGeom prst="rect">
            <a:avLst/>
          </a:prstGeom>
          <a:solidFill>
            <a:srgbClr val="31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16368" y="2148840"/>
            <a:ext cx="3584448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92A46"/>
                </a:solidFill>
                <a:latin typeface="Aptos"/>
              </a:rPr>
              <a:t>¿QUÉ HACE EL CICLO?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16368" y="2578608"/>
            <a:ext cx="3584448" cy="15361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26313E"/>
                </a:solidFill>
                <a:latin typeface="Aptos"/>
              </a:rPr>
              <a:t>Lee cada venta y la suma a la variable total.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4526280"/>
            <a:ext cx="39319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0" y="4526280"/>
            <a:ext cx="91440" cy="1280160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16368" y="4663440"/>
            <a:ext cx="3584448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92A46"/>
                </a:solidFill>
                <a:latin typeface="Aptos"/>
              </a:rPr>
              <a:t>RESULTADO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6368" y="5093208"/>
            <a:ext cx="3584448" cy="6217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26313E"/>
                </a:solidFill>
                <a:latin typeface="Aptos"/>
              </a:rPr>
              <a:t>Total semanal: $750.000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92A46"/>
                </a:solidFill>
                <a:latin typeface="Aptos"/>
              </a:rPr>
              <a:t>6. Algoritmo con matriz: calificaciones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5F6C7A"/>
                </a:solidFill>
                <a:latin typeface="Aptos"/>
              </a:rPr>
              <a:t>Registrar las notas de cuatro estudiantes en tres asignaturas y calcular sus promedios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05840" cy="54864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1000" b="0">
                <a:solidFill>
                  <a:srgbClr val="5F6C7A"/>
                </a:solidFill>
                <a:latin typeface="Apto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7498079" cy="4892040"/>
          </a:xfrm>
          <a:prstGeom prst="roundRect">
            <a:avLst/>
          </a:prstGeom>
          <a:solidFill>
            <a:srgbClr val="1D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664207"/>
            <a:ext cx="7178040" cy="4690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200" dirty="0" err="1">
                <a:solidFill>
                  <a:srgbClr val="E0EBF6"/>
                </a:solidFill>
                <a:latin typeface="Consolas"/>
              </a:rPr>
              <a:t>Algoritmo</a:t>
            </a:r>
            <a:r>
              <a:rPr sz="1200" dirty="0">
                <a:solidFill>
                  <a:srgbClr val="E0EBF6"/>
                </a:solidFill>
                <a:latin typeface="Consolas"/>
              </a:rPr>
              <a:t> </a:t>
            </a:r>
            <a:r>
              <a:rPr sz="1200" dirty="0" err="1">
                <a:solidFill>
                  <a:srgbClr val="E0EBF6"/>
                </a:solidFill>
                <a:latin typeface="Consolas"/>
              </a:rPr>
              <a:t>NotasEstudiantes</a:t>
            </a:r>
            <a:endParaRPr lang="es-CO" sz="1200" dirty="0">
              <a:solidFill>
                <a:srgbClr val="E0EBF6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lang="es-CO" sz="1200" dirty="0" err="1">
                <a:solidFill>
                  <a:srgbClr val="E0EBF6"/>
                </a:solidFill>
                <a:latin typeface="Consolas"/>
              </a:rPr>
              <a:t>InicioAlgoritmo</a:t>
            </a:r>
            <a:endParaRPr sz="1200" dirty="0">
              <a:solidFill>
                <a:srgbClr val="E0EBF6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E0EBF6"/>
                </a:solidFill>
                <a:latin typeface="Consolas"/>
              </a:rPr>
              <a:t>    </a:t>
            </a:r>
            <a:r>
              <a:rPr sz="1200" dirty="0" err="1">
                <a:solidFill>
                  <a:srgbClr val="E0EBF6"/>
                </a:solidFill>
                <a:latin typeface="Consolas"/>
              </a:rPr>
              <a:t>Definir</a:t>
            </a:r>
            <a:r>
              <a:rPr sz="1200" dirty="0">
                <a:solidFill>
                  <a:srgbClr val="E0EBF6"/>
                </a:solidFill>
                <a:latin typeface="Consolas"/>
              </a:rPr>
              <a:t> </a:t>
            </a:r>
            <a:r>
              <a:rPr sz="1200" dirty="0" err="1">
                <a:solidFill>
                  <a:srgbClr val="E0EBF6"/>
                </a:solidFill>
                <a:latin typeface="Consolas"/>
              </a:rPr>
              <a:t>notas</a:t>
            </a:r>
            <a:r>
              <a:rPr sz="1200" dirty="0">
                <a:solidFill>
                  <a:srgbClr val="E0EBF6"/>
                </a:solidFill>
                <a:latin typeface="Consolas"/>
              </a:rPr>
              <a:t>[4,3] Como Real</a:t>
            </a: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E0EBF6"/>
                </a:solidFill>
                <a:latin typeface="Consolas"/>
              </a:rPr>
              <a:t>    </a:t>
            </a:r>
            <a:r>
              <a:rPr sz="1200" dirty="0" err="1">
                <a:solidFill>
                  <a:srgbClr val="E0EBF6"/>
                </a:solidFill>
                <a:latin typeface="Consolas"/>
              </a:rPr>
              <a:t>Definir</a:t>
            </a:r>
            <a:r>
              <a:rPr sz="1200" dirty="0">
                <a:solidFill>
                  <a:srgbClr val="E0EBF6"/>
                </a:solidFill>
                <a:latin typeface="Consolas"/>
              </a:rPr>
              <a:t> fila, columna Como </a:t>
            </a:r>
            <a:r>
              <a:rPr sz="1200" dirty="0" err="1">
                <a:solidFill>
                  <a:srgbClr val="E0EBF6"/>
                </a:solidFill>
                <a:latin typeface="Consolas"/>
              </a:rPr>
              <a:t>Entero</a:t>
            </a:r>
            <a:endParaRPr sz="1200" dirty="0">
              <a:solidFill>
                <a:srgbClr val="E0EBF6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E0EBF6"/>
                </a:solidFill>
                <a:latin typeface="Consolas"/>
              </a:rPr>
              <a:t>    </a:t>
            </a:r>
            <a:r>
              <a:rPr sz="1200" dirty="0" err="1">
                <a:solidFill>
                  <a:srgbClr val="E0EBF6"/>
                </a:solidFill>
                <a:latin typeface="Consolas"/>
              </a:rPr>
              <a:t>Definir</a:t>
            </a:r>
            <a:r>
              <a:rPr sz="1200" dirty="0">
                <a:solidFill>
                  <a:srgbClr val="E0EBF6"/>
                </a:solidFill>
                <a:latin typeface="Consolas"/>
              </a:rPr>
              <a:t> </a:t>
            </a:r>
            <a:r>
              <a:rPr sz="1200" dirty="0" err="1">
                <a:solidFill>
                  <a:srgbClr val="E0EBF6"/>
                </a:solidFill>
                <a:latin typeface="Consolas"/>
              </a:rPr>
              <a:t>suma</a:t>
            </a:r>
            <a:r>
              <a:rPr sz="1200" dirty="0">
                <a:solidFill>
                  <a:srgbClr val="E0EBF6"/>
                </a:solidFill>
                <a:latin typeface="Consolas"/>
              </a:rPr>
              <a:t>, </a:t>
            </a:r>
            <a:r>
              <a:rPr sz="1200" dirty="0" err="1">
                <a:solidFill>
                  <a:srgbClr val="E0EBF6"/>
                </a:solidFill>
                <a:latin typeface="Consolas"/>
              </a:rPr>
              <a:t>promedio</a:t>
            </a:r>
            <a:r>
              <a:rPr sz="1200" dirty="0">
                <a:solidFill>
                  <a:srgbClr val="E0EBF6"/>
                </a:solidFill>
                <a:latin typeface="Consolas"/>
              </a:rPr>
              <a:t> Como Real</a:t>
            </a:r>
          </a:p>
          <a:p>
            <a:pPr>
              <a:spcAft>
                <a:spcPts val="200"/>
              </a:spcAft>
            </a:pPr>
            <a:endParaRPr sz="1200" dirty="0">
              <a:solidFill>
                <a:srgbClr val="E0EBF6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E0EBF6"/>
                </a:solidFill>
                <a:latin typeface="Consolas"/>
              </a:rPr>
              <a:t>    Para fila &lt;- 1 Hasta 4 Hacer</a:t>
            </a: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E0EBF6"/>
                </a:solidFill>
                <a:latin typeface="Consolas"/>
              </a:rPr>
              <a:t>        Para columna &lt;- 1 Hasta 3 Hacer</a:t>
            </a: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E0EBF6"/>
                </a:solidFill>
                <a:latin typeface="Consolas"/>
              </a:rPr>
              <a:t>            </a:t>
            </a:r>
            <a:r>
              <a:rPr sz="1200" dirty="0" err="1">
                <a:solidFill>
                  <a:srgbClr val="E0EBF6"/>
                </a:solidFill>
                <a:latin typeface="Consolas"/>
              </a:rPr>
              <a:t>Escribir</a:t>
            </a:r>
            <a:r>
              <a:rPr sz="1200" dirty="0">
                <a:solidFill>
                  <a:srgbClr val="E0EBF6"/>
                </a:solidFill>
                <a:latin typeface="Consolas"/>
              </a:rPr>
              <a:t> "</a:t>
            </a:r>
            <a:r>
              <a:rPr sz="1200" dirty="0" err="1">
                <a:solidFill>
                  <a:srgbClr val="E0EBF6"/>
                </a:solidFill>
                <a:latin typeface="Consolas"/>
              </a:rPr>
              <a:t>Ingrese</a:t>
            </a:r>
            <a:r>
              <a:rPr sz="1200" dirty="0">
                <a:solidFill>
                  <a:srgbClr val="E0EBF6"/>
                </a:solidFill>
                <a:latin typeface="Consolas"/>
              </a:rPr>
              <a:t> </a:t>
            </a:r>
            <a:r>
              <a:rPr sz="1200" dirty="0" err="1">
                <a:solidFill>
                  <a:srgbClr val="E0EBF6"/>
                </a:solidFill>
                <a:latin typeface="Consolas"/>
              </a:rPr>
              <a:t>una</a:t>
            </a:r>
            <a:r>
              <a:rPr sz="1200" dirty="0">
                <a:solidFill>
                  <a:srgbClr val="E0EBF6"/>
                </a:solidFill>
                <a:latin typeface="Consolas"/>
              </a:rPr>
              <a:t> nota"</a:t>
            </a: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E0EBF6"/>
                </a:solidFill>
                <a:latin typeface="Consolas"/>
              </a:rPr>
              <a:t>            Leer </a:t>
            </a:r>
            <a:r>
              <a:rPr sz="1200" dirty="0" err="1">
                <a:solidFill>
                  <a:srgbClr val="E0EBF6"/>
                </a:solidFill>
                <a:latin typeface="Consolas"/>
              </a:rPr>
              <a:t>notas</a:t>
            </a:r>
            <a:r>
              <a:rPr sz="1200" dirty="0">
                <a:solidFill>
                  <a:srgbClr val="E0EBF6"/>
                </a:solidFill>
                <a:latin typeface="Consolas"/>
              </a:rPr>
              <a:t>[</a:t>
            </a:r>
            <a:r>
              <a:rPr sz="1200" dirty="0" err="1">
                <a:solidFill>
                  <a:srgbClr val="E0EBF6"/>
                </a:solidFill>
                <a:latin typeface="Consolas"/>
              </a:rPr>
              <a:t>fila,columna</a:t>
            </a:r>
            <a:r>
              <a:rPr sz="1200" dirty="0">
                <a:solidFill>
                  <a:srgbClr val="E0EBF6"/>
                </a:solidFill>
                <a:latin typeface="Consolas"/>
              </a:rPr>
              <a:t>]</a:t>
            </a: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E0EBF6"/>
                </a:solidFill>
                <a:latin typeface="Consolas"/>
              </a:rPr>
              <a:t>        </a:t>
            </a:r>
            <a:r>
              <a:rPr sz="1200" dirty="0" err="1">
                <a:solidFill>
                  <a:srgbClr val="E0EBF6"/>
                </a:solidFill>
                <a:latin typeface="Consolas"/>
              </a:rPr>
              <a:t>FinPara</a:t>
            </a:r>
            <a:endParaRPr sz="1200" dirty="0">
              <a:solidFill>
                <a:srgbClr val="E0EBF6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E0EBF6"/>
                </a:solidFill>
                <a:latin typeface="Consolas"/>
              </a:rPr>
              <a:t>    </a:t>
            </a:r>
            <a:r>
              <a:rPr sz="1200" dirty="0" err="1">
                <a:solidFill>
                  <a:srgbClr val="E0EBF6"/>
                </a:solidFill>
                <a:latin typeface="Consolas"/>
              </a:rPr>
              <a:t>FinPara</a:t>
            </a:r>
            <a:endParaRPr sz="1200" dirty="0">
              <a:solidFill>
                <a:srgbClr val="E0EBF6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endParaRPr sz="1200" dirty="0">
              <a:solidFill>
                <a:srgbClr val="E0EBF6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E0EBF6"/>
                </a:solidFill>
                <a:latin typeface="Consolas"/>
              </a:rPr>
              <a:t>    Para fila &lt;- 1 Hasta 4 Hacer</a:t>
            </a: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E0EBF6"/>
                </a:solidFill>
                <a:latin typeface="Consolas"/>
              </a:rPr>
              <a:t>        </a:t>
            </a:r>
            <a:r>
              <a:rPr sz="1200" dirty="0" err="1">
                <a:solidFill>
                  <a:srgbClr val="E0EBF6"/>
                </a:solidFill>
                <a:latin typeface="Consolas"/>
              </a:rPr>
              <a:t>suma</a:t>
            </a:r>
            <a:r>
              <a:rPr sz="1200" dirty="0">
                <a:solidFill>
                  <a:srgbClr val="E0EBF6"/>
                </a:solidFill>
                <a:latin typeface="Consolas"/>
              </a:rPr>
              <a:t> &lt;- 0</a:t>
            </a: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E0EBF6"/>
                </a:solidFill>
                <a:latin typeface="Consolas"/>
              </a:rPr>
              <a:t>        Para columna &lt;- 1 Hasta 3 Hacer</a:t>
            </a: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E0EBF6"/>
                </a:solidFill>
                <a:latin typeface="Consolas"/>
              </a:rPr>
              <a:t>            </a:t>
            </a:r>
            <a:r>
              <a:rPr sz="1200" dirty="0" err="1">
                <a:solidFill>
                  <a:srgbClr val="E0EBF6"/>
                </a:solidFill>
                <a:latin typeface="Consolas"/>
              </a:rPr>
              <a:t>suma</a:t>
            </a:r>
            <a:r>
              <a:rPr sz="1200" dirty="0">
                <a:solidFill>
                  <a:srgbClr val="E0EBF6"/>
                </a:solidFill>
                <a:latin typeface="Consolas"/>
              </a:rPr>
              <a:t> &lt;- </a:t>
            </a:r>
            <a:r>
              <a:rPr sz="1200" dirty="0" err="1">
                <a:solidFill>
                  <a:srgbClr val="E0EBF6"/>
                </a:solidFill>
                <a:latin typeface="Consolas"/>
              </a:rPr>
              <a:t>suma</a:t>
            </a:r>
            <a:r>
              <a:rPr sz="1200" dirty="0">
                <a:solidFill>
                  <a:srgbClr val="E0EBF6"/>
                </a:solidFill>
                <a:latin typeface="Consolas"/>
              </a:rPr>
              <a:t> + </a:t>
            </a:r>
            <a:r>
              <a:rPr sz="1200" dirty="0" err="1">
                <a:solidFill>
                  <a:srgbClr val="E0EBF6"/>
                </a:solidFill>
                <a:latin typeface="Consolas"/>
              </a:rPr>
              <a:t>notas</a:t>
            </a:r>
            <a:r>
              <a:rPr sz="1200" dirty="0">
                <a:solidFill>
                  <a:srgbClr val="E0EBF6"/>
                </a:solidFill>
                <a:latin typeface="Consolas"/>
              </a:rPr>
              <a:t>[</a:t>
            </a:r>
            <a:r>
              <a:rPr sz="1200" dirty="0" err="1">
                <a:solidFill>
                  <a:srgbClr val="E0EBF6"/>
                </a:solidFill>
                <a:latin typeface="Consolas"/>
              </a:rPr>
              <a:t>fila,columna</a:t>
            </a:r>
            <a:r>
              <a:rPr sz="1200" dirty="0">
                <a:solidFill>
                  <a:srgbClr val="E0EBF6"/>
                </a:solidFill>
                <a:latin typeface="Consolas"/>
              </a:rPr>
              <a:t>]</a:t>
            </a: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E0EBF6"/>
                </a:solidFill>
                <a:latin typeface="Consolas"/>
              </a:rPr>
              <a:t>        </a:t>
            </a:r>
            <a:r>
              <a:rPr sz="1200" dirty="0" err="1">
                <a:solidFill>
                  <a:srgbClr val="E0EBF6"/>
                </a:solidFill>
                <a:latin typeface="Consolas"/>
              </a:rPr>
              <a:t>FinPara</a:t>
            </a:r>
            <a:endParaRPr sz="1200" dirty="0">
              <a:solidFill>
                <a:srgbClr val="E0EBF6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E0EBF6"/>
                </a:solidFill>
                <a:latin typeface="Consolas"/>
              </a:rPr>
              <a:t>        </a:t>
            </a:r>
            <a:r>
              <a:rPr sz="1200" dirty="0" err="1">
                <a:solidFill>
                  <a:srgbClr val="E0EBF6"/>
                </a:solidFill>
                <a:latin typeface="Consolas"/>
              </a:rPr>
              <a:t>promedio</a:t>
            </a:r>
            <a:r>
              <a:rPr sz="1200" dirty="0">
                <a:solidFill>
                  <a:srgbClr val="E0EBF6"/>
                </a:solidFill>
                <a:latin typeface="Consolas"/>
              </a:rPr>
              <a:t> &lt;- </a:t>
            </a:r>
            <a:r>
              <a:rPr sz="1200" dirty="0" err="1">
                <a:solidFill>
                  <a:srgbClr val="E0EBF6"/>
                </a:solidFill>
                <a:latin typeface="Consolas"/>
              </a:rPr>
              <a:t>suma</a:t>
            </a:r>
            <a:r>
              <a:rPr sz="1200" dirty="0">
                <a:solidFill>
                  <a:srgbClr val="E0EBF6"/>
                </a:solidFill>
                <a:latin typeface="Consolas"/>
              </a:rPr>
              <a:t> / 3</a:t>
            </a: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E0EBF6"/>
                </a:solidFill>
                <a:latin typeface="Consolas"/>
              </a:rPr>
              <a:t>        </a:t>
            </a:r>
            <a:r>
              <a:rPr sz="1200" dirty="0" err="1">
                <a:solidFill>
                  <a:srgbClr val="E0EBF6"/>
                </a:solidFill>
                <a:latin typeface="Consolas"/>
              </a:rPr>
              <a:t>Escribir</a:t>
            </a:r>
            <a:r>
              <a:rPr sz="1200" dirty="0">
                <a:solidFill>
                  <a:srgbClr val="E0EBF6"/>
                </a:solidFill>
                <a:latin typeface="Consolas"/>
              </a:rPr>
              <a:t> "</a:t>
            </a:r>
            <a:r>
              <a:rPr sz="1200" dirty="0" err="1">
                <a:solidFill>
                  <a:srgbClr val="E0EBF6"/>
                </a:solidFill>
                <a:latin typeface="Consolas"/>
              </a:rPr>
              <a:t>Estudiante</a:t>
            </a:r>
            <a:r>
              <a:rPr sz="1200" dirty="0">
                <a:solidFill>
                  <a:srgbClr val="E0EBF6"/>
                </a:solidFill>
                <a:latin typeface="Consolas"/>
              </a:rPr>
              <a:t> ", fila, ": ", </a:t>
            </a:r>
            <a:r>
              <a:rPr sz="1200" dirty="0" err="1">
                <a:solidFill>
                  <a:srgbClr val="E0EBF6"/>
                </a:solidFill>
                <a:latin typeface="Consolas"/>
              </a:rPr>
              <a:t>promedio</a:t>
            </a:r>
            <a:endParaRPr sz="1200" dirty="0">
              <a:solidFill>
                <a:srgbClr val="E0EBF6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E0EBF6"/>
                </a:solidFill>
                <a:latin typeface="Consolas"/>
              </a:rPr>
              <a:t>    </a:t>
            </a:r>
            <a:r>
              <a:rPr sz="1200" dirty="0" err="1">
                <a:solidFill>
                  <a:srgbClr val="E0EBF6"/>
                </a:solidFill>
                <a:latin typeface="Consolas"/>
              </a:rPr>
              <a:t>FinPara</a:t>
            </a:r>
            <a:endParaRPr sz="1200" dirty="0">
              <a:solidFill>
                <a:srgbClr val="E0EBF6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200" dirty="0" err="1">
                <a:solidFill>
                  <a:srgbClr val="E0EBF6"/>
                </a:solidFill>
                <a:latin typeface="Consolas"/>
              </a:rPr>
              <a:t>FinAlgoritmo</a:t>
            </a:r>
            <a:endParaRPr sz="1200" dirty="0">
              <a:solidFill>
                <a:srgbClr val="E0EBF6"/>
              </a:solidFill>
              <a:latin typeface="Consola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321040" y="1783080"/>
            <a:ext cx="3291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321040" y="1783080"/>
            <a:ext cx="91440" cy="1828800"/>
          </a:xfrm>
          <a:prstGeom prst="rect">
            <a:avLst/>
          </a:prstGeom>
          <a:solidFill>
            <a:srgbClr val="31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22208" y="1920240"/>
            <a:ext cx="2944368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92A46"/>
                </a:solidFill>
                <a:latin typeface="Aptos"/>
              </a:rPr>
              <a:t>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22208" y="2350008"/>
            <a:ext cx="2944368" cy="11704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26313E"/>
                </a:solidFill>
                <a:latin typeface="Aptos"/>
              </a:rPr>
              <a:t>12 notas: 4 estudiantes × 3 materias.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3886200"/>
            <a:ext cx="3291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21040" y="3886200"/>
            <a:ext cx="91440" cy="1828800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22208" y="4023360"/>
            <a:ext cx="2944368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92A46"/>
                </a:solidFill>
                <a:latin typeface="Aptos"/>
              </a:rPr>
              <a:t>SALIDA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8" y="4453128"/>
            <a:ext cx="2944368" cy="11704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26313E"/>
                </a:solidFill>
                <a:latin typeface="Aptos"/>
              </a:rPr>
              <a:t>Promedio de cada estudiante.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92A46"/>
                </a:solidFill>
                <a:latin typeface="Aptos"/>
              </a:rPr>
              <a:t>7. Ejemplo de resultado: matriz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5F6C7A"/>
                </a:solidFill>
                <a:latin typeface="Aptos"/>
              </a:rPr>
              <a:t>La matriz permite organizar las notas por estudiante y asignatura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05840" cy="54864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1000" b="0">
                <a:solidFill>
                  <a:srgbClr val="5F6C7A"/>
                </a:solidFill>
                <a:latin typeface="Aptos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828800"/>
          <a:ext cx="100584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Estudiante</a:t>
                      </a:r>
                    </a:p>
                  </a:txBody>
                  <a:tcPr>
                    <a:solidFill>
                      <a:srgbClr val="192A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Matemáticas</a:t>
                      </a:r>
                    </a:p>
                  </a:txBody>
                  <a:tcPr>
                    <a:solidFill>
                      <a:srgbClr val="192A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Informática</a:t>
                      </a:r>
                    </a:p>
                  </a:txBody>
                  <a:tcPr>
                    <a:solidFill>
                      <a:srgbClr val="192A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Español</a:t>
                      </a:r>
                    </a:p>
                  </a:txBody>
                  <a:tcPr>
                    <a:solidFill>
                      <a:srgbClr val="192A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Promedio</a:t>
                      </a:r>
                    </a:p>
                  </a:txBody>
                  <a:tcPr>
                    <a:solidFill>
                      <a:srgbClr val="192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A46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A46"/>
                          </a:solidFill>
                        </a:rPr>
                        <a:t>4,0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A46"/>
                          </a:solidFill>
                        </a:rPr>
                        <a:t>4,5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A46"/>
                          </a:solidFill>
                        </a:rPr>
                        <a:t>3,5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2A46"/>
                          </a:solidFill>
                        </a:rPr>
                        <a:t>4,00</a:t>
                      </a:r>
                    </a:p>
                  </a:txBody>
                  <a:tcPr>
                    <a:solidFill>
                      <a:srgbClr val="DE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A46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9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A46"/>
                          </a:solidFill>
                        </a:rPr>
                        <a:t>3,0</a:t>
                      </a:r>
                    </a:p>
                  </a:txBody>
                  <a:tcPr>
                    <a:solidFill>
                      <a:srgbClr val="E9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A46"/>
                          </a:solidFill>
                        </a:rPr>
                        <a:t>4,0</a:t>
                      </a:r>
                    </a:p>
                  </a:txBody>
                  <a:tcPr>
                    <a:solidFill>
                      <a:srgbClr val="E9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A46"/>
                          </a:solidFill>
                        </a:rPr>
                        <a:t>3,5</a:t>
                      </a:r>
                    </a:p>
                  </a:txBody>
                  <a:tcPr>
                    <a:solidFill>
                      <a:srgbClr val="E9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2A46"/>
                          </a:solidFill>
                        </a:rPr>
                        <a:t>3,50</a:t>
                      </a:r>
                    </a:p>
                  </a:txBody>
                  <a:tcPr>
                    <a:solidFill>
                      <a:srgbClr val="DE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A46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A46"/>
                          </a:solidFill>
                        </a:rPr>
                        <a:t>5,0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A46"/>
                          </a:solidFill>
                        </a:rPr>
                        <a:t>4,5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A46"/>
                          </a:solidFill>
                        </a:rPr>
                        <a:t>4,0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2A46"/>
                          </a:solidFill>
                        </a:rPr>
                        <a:t>4,50</a:t>
                      </a:r>
                    </a:p>
                  </a:txBody>
                  <a:tcPr>
                    <a:solidFill>
                      <a:srgbClr val="DE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A46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9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A46"/>
                          </a:solidFill>
                        </a:rPr>
                        <a:t>3,5</a:t>
                      </a:r>
                    </a:p>
                  </a:txBody>
                  <a:tcPr>
                    <a:solidFill>
                      <a:srgbClr val="E9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A46"/>
                          </a:solidFill>
                        </a:rPr>
                        <a:t>3,0</a:t>
                      </a:r>
                    </a:p>
                  </a:txBody>
                  <a:tcPr>
                    <a:solidFill>
                      <a:srgbClr val="E9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A46"/>
                          </a:solidFill>
                        </a:rPr>
                        <a:t>4,0</a:t>
                      </a:r>
                    </a:p>
                  </a:txBody>
                  <a:tcPr>
                    <a:solidFill>
                      <a:srgbClr val="E9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2A46"/>
                          </a:solidFill>
                        </a:rPr>
                        <a:t>3,50</a:t>
                      </a:r>
                    </a:p>
                  </a:txBody>
                  <a:tcPr>
                    <a:solidFill>
                      <a:srgbClr val="DE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669280"/>
            <a:ext cx="1060704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92A46"/>
                </a:solidFill>
                <a:latin typeface="Aptos"/>
              </a:rPr>
              <a:t>Ejemplo de cálculo: (4,0 + 4,5 + 3,5) ÷ 3 = 4,0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92A46"/>
                </a:solidFill>
                <a:latin typeface="Aptos"/>
              </a:rPr>
              <a:t>8. Diferencias y conclusión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5F6C7A"/>
                </a:solidFill>
                <a:latin typeface="Aptos"/>
              </a:rPr>
              <a:t>Recuerda estas ideas al analizar un problema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05840" cy="54864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1000" b="0">
                <a:solidFill>
                  <a:srgbClr val="5F6C7A"/>
                </a:solidFill>
                <a:latin typeface="Aptos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84537" y="1673352"/>
            <a:ext cx="3474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084537" y="1673352"/>
            <a:ext cx="91440" cy="3383280"/>
          </a:xfrm>
          <a:prstGeom prst="rect">
            <a:avLst/>
          </a:prstGeom>
          <a:solidFill>
            <a:srgbClr val="31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5705" y="1810512"/>
            <a:ext cx="3127248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92A46"/>
                </a:solidFill>
                <a:latin typeface="Aptos"/>
              </a:rPr>
              <a:t>VECTOR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5705" y="2240280"/>
            <a:ext cx="3127248" cy="2724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26313E"/>
                </a:solidFill>
                <a:latin typeface="Aptos"/>
              </a:rPr>
              <a:t>• Una dimensión.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26313E"/>
                </a:solidFill>
                <a:latin typeface="Aptos"/>
              </a:rPr>
              <a:t>• Una posición.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26313E"/>
                </a:solidFill>
                <a:latin typeface="Aptos"/>
              </a:rPr>
              <a:t>• Ejemplo: ventas[3].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04560" y="1673352"/>
            <a:ext cx="3474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04560" y="1673352"/>
            <a:ext cx="91440" cy="3383280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05728" y="1810512"/>
            <a:ext cx="3127248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92A46"/>
                </a:solidFill>
                <a:latin typeface="Aptos"/>
              </a:rPr>
              <a:t>MATRIZ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5728" y="2240280"/>
            <a:ext cx="3127248" cy="2724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 dirty="0">
                <a:solidFill>
                  <a:srgbClr val="26313E"/>
                </a:solidFill>
                <a:latin typeface="Aptos"/>
              </a:rPr>
              <a:t>• Filas y columnas.</a:t>
            </a:r>
          </a:p>
          <a:p>
            <a:pPr algn="l">
              <a:spcAft>
                <a:spcPts val="700"/>
              </a:spcAft>
            </a:pPr>
            <a:r>
              <a:rPr sz="1300" b="0" dirty="0">
                <a:solidFill>
                  <a:srgbClr val="26313E"/>
                </a:solidFill>
                <a:latin typeface="Aptos"/>
              </a:rPr>
              <a:t>• Dos </a:t>
            </a:r>
            <a:r>
              <a:rPr sz="1300" b="0" dirty="0" err="1">
                <a:solidFill>
                  <a:srgbClr val="26313E"/>
                </a:solidFill>
                <a:latin typeface="Aptos"/>
              </a:rPr>
              <a:t>posiciones</a:t>
            </a:r>
            <a:r>
              <a:rPr sz="1300" b="0" dirty="0">
                <a:solidFill>
                  <a:srgbClr val="26313E"/>
                </a:solidFill>
                <a:latin typeface="Aptos"/>
              </a:rPr>
              <a:t>.</a:t>
            </a:r>
          </a:p>
          <a:p>
            <a:pPr algn="l">
              <a:spcAft>
                <a:spcPts val="700"/>
              </a:spcAft>
            </a:pPr>
            <a:r>
              <a:rPr sz="1300" b="0" dirty="0">
                <a:solidFill>
                  <a:srgbClr val="26313E"/>
                </a:solidFill>
                <a:latin typeface="Aptos"/>
              </a:rPr>
              <a:t>• </a:t>
            </a:r>
            <a:r>
              <a:rPr sz="1300" b="0" dirty="0" err="1">
                <a:solidFill>
                  <a:srgbClr val="26313E"/>
                </a:solidFill>
                <a:latin typeface="Aptos"/>
              </a:rPr>
              <a:t>Ejemplo</a:t>
            </a:r>
            <a:r>
              <a:rPr sz="1300" b="0" dirty="0">
                <a:solidFill>
                  <a:srgbClr val="26313E"/>
                </a:solidFill>
                <a:latin typeface="Aptos"/>
              </a:rPr>
              <a:t>: </a:t>
            </a:r>
            <a:r>
              <a:rPr sz="1300" b="0" dirty="0" err="1">
                <a:solidFill>
                  <a:srgbClr val="26313E"/>
                </a:solidFill>
                <a:latin typeface="Aptos"/>
              </a:rPr>
              <a:t>notas</a:t>
            </a:r>
            <a:r>
              <a:rPr sz="1300" b="0" dirty="0">
                <a:solidFill>
                  <a:srgbClr val="26313E"/>
                </a:solidFill>
                <a:latin typeface="Aptos"/>
              </a:rPr>
              <a:t>[2,3].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486400"/>
            <a:ext cx="1024128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192A46"/>
                </a:solidFill>
                <a:latin typeface="Aptos"/>
              </a:rPr>
              <a:t>Conclusión: los vectores organizan listas; las matrices organizan tablas.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92A46"/>
                </a:solidFill>
                <a:latin typeface="Aptos"/>
              </a:rPr>
              <a:t>9. Practiquemos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5F6C7A"/>
                </a:solidFill>
                <a:latin typeface="Aptos"/>
              </a:rPr>
              <a:t>Decide qué estructura usarías en cada situación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05840" cy="54864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1000" b="0">
                <a:solidFill>
                  <a:srgbClr val="5F6C7A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51663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45920"/>
            <a:ext cx="91440" cy="1508760"/>
          </a:xfrm>
          <a:prstGeom prst="rect">
            <a:avLst/>
          </a:prstGeom>
          <a:solidFill>
            <a:srgbClr val="31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783080"/>
            <a:ext cx="4818888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92A46"/>
                </a:solidFill>
                <a:latin typeface="Aptos"/>
              </a:rPr>
              <a:t>1. Edades de 15 jugadores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12848"/>
            <a:ext cx="4818888" cy="8503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26313E"/>
                </a:solidFill>
                <a:latin typeface="Aptos"/>
              </a:rPr>
              <a:t>¿Vector o matriz?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45920"/>
            <a:ext cx="51663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645920"/>
            <a:ext cx="91440" cy="1508760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1783080"/>
            <a:ext cx="4818888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92A46"/>
                </a:solidFill>
                <a:latin typeface="Aptos"/>
              </a:rPr>
              <a:t>2. Notas de 30 estudiantes en 5 materias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212848"/>
            <a:ext cx="4818888" cy="8503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26313E"/>
                </a:solidFill>
                <a:latin typeface="Aptos"/>
              </a:rPr>
              <a:t>¿Vector o matriz?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20440"/>
            <a:ext cx="51663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" y="3520440"/>
            <a:ext cx="91440" cy="1508760"/>
          </a:xfrm>
          <a:prstGeom prst="rect">
            <a:avLst/>
          </a:prstGeom>
          <a:solidFill>
            <a:srgbClr val="31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8408" y="3657600"/>
            <a:ext cx="4818888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92A46"/>
                </a:solidFill>
                <a:latin typeface="Aptos"/>
              </a:rPr>
              <a:t>3. Precios de 8 productos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4087368"/>
            <a:ext cx="4818888" cy="8503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26313E"/>
                </a:solidFill>
                <a:latin typeface="Aptos"/>
              </a:rPr>
              <a:t>¿Vector o matriz?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520440"/>
            <a:ext cx="51663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3520440"/>
            <a:ext cx="91440" cy="1508760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64807" y="3657600"/>
            <a:ext cx="4818888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92A46"/>
                </a:solidFill>
                <a:latin typeface="Aptos"/>
              </a:rPr>
              <a:t>4. Habitaciones por piso y número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7" y="4087368"/>
            <a:ext cx="4818888" cy="8503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26313E"/>
                </a:solidFill>
                <a:latin typeface="Aptos"/>
              </a:rPr>
              <a:t>¿Vector o matriz?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898</Words>
  <Application>Microsoft Office PowerPoint</Application>
  <PresentationFormat>Panorámica</PresentationFormat>
  <Paragraphs>186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Oscar Samuel Cortes Agudelo</cp:lastModifiedBy>
  <cp:revision>2</cp:revision>
  <dcterms:created xsi:type="dcterms:W3CDTF">2013-01-27T09:14:16Z</dcterms:created>
  <dcterms:modified xsi:type="dcterms:W3CDTF">2026-10-22T12:38:35Z</dcterms:modified>
  <cp:category/>
</cp:coreProperties>
</file>